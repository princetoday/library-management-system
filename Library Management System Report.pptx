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0C74D-E389-431E-9F97-12269BD80370}" v="8" dt="2026-03-28T17:39:05.7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91" y="1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 MISHRA" userId="dcc4833a0e7ed89d" providerId="LiveId" clId="{6E8A2D65-A48A-4491-AE2F-6A22C4E5EC86}"/>
    <pc:docChg chg="undo custSel modSld">
      <pc:chgData name="VINEET MISHRA" userId="dcc4833a0e7ed89d" providerId="LiveId" clId="{6E8A2D65-A48A-4491-AE2F-6A22C4E5EC86}" dt="2026-03-28T17:40:42.519" v="149" actId="20577"/>
      <pc:docMkLst>
        <pc:docMk/>
      </pc:docMkLst>
      <pc:sldChg chg="modSp mod">
        <pc:chgData name="VINEET MISHRA" userId="dcc4833a0e7ed89d" providerId="LiveId" clId="{6E8A2D65-A48A-4491-AE2F-6A22C4E5EC86}" dt="2026-03-28T17:40:42.519" v="149" actId="20577"/>
        <pc:sldMkLst>
          <pc:docMk/>
          <pc:sldMk cId="0" sldId="256"/>
        </pc:sldMkLst>
        <pc:spChg chg="mod">
          <ac:chgData name="VINEET MISHRA" userId="dcc4833a0e7ed89d" providerId="LiveId" clId="{6E8A2D65-A48A-4491-AE2F-6A22C4E5EC86}" dt="2026-03-28T17:40:42.519" v="149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VINEET MISHRA" userId="dcc4833a0e7ed89d" providerId="LiveId" clId="{6E8A2D65-A48A-4491-AE2F-6A22C4E5EC86}" dt="2026-03-28T17:37:08.535" v="7" actId="1076"/>
        <pc:sldMkLst>
          <pc:docMk/>
          <pc:sldMk cId="0" sldId="263"/>
        </pc:sldMkLst>
        <pc:spChg chg="add del">
          <ac:chgData name="VINEET MISHRA" userId="dcc4833a0e7ed89d" providerId="LiveId" clId="{6E8A2D65-A48A-4491-AE2F-6A22C4E5EC86}" dt="2026-03-28T17:35:53.010" v="1" actId="478"/>
          <ac:spMkLst>
            <pc:docMk/>
            <pc:sldMk cId="0" sldId="263"/>
            <ac:spMk id="4" creationId="{3F34BCCE-0648-0903-1A4D-5878CF5C25FC}"/>
          </ac:spMkLst>
        </pc:spChg>
        <pc:spChg chg="add mod">
          <ac:chgData name="VINEET MISHRA" userId="dcc4833a0e7ed89d" providerId="LiveId" clId="{6E8A2D65-A48A-4491-AE2F-6A22C4E5EC86}" dt="2026-03-28T17:36:03.948" v="3" actId="14100"/>
          <ac:spMkLst>
            <pc:docMk/>
            <pc:sldMk cId="0" sldId="263"/>
            <ac:spMk id="5" creationId="{2AED70D6-98CB-D5DA-CD0B-4F66F74D8D6A}"/>
          </ac:spMkLst>
        </pc:spChg>
        <pc:spChg chg="add">
          <ac:chgData name="VINEET MISHRA" userId="dcc4833a0e7ed89d" providerId="LiveId" clId="{6E8A2D65-A48A-4491-AE2F-6A22C4E5EC86}" dt="2026-03-28T17:36:16.634" v="4"/>
          <ac:spMkLst>
            <pc:docMk/>
            <pc:sldMk cId="0" sldId="263"/>
            <ac:spMk id="6" creationId="{9FECC8E9-67FF-CED3-9819-D07F9B343901}"/>
          </ac:spMkLst>
        </pc:spChg>
        <pc:picChg chg="del">
          <ac:chgData name="VINEET MISHRA" userId="dcc4833a0e7ed89d" providerId="LiveId" clId="{6E8A2D65-A48A-4491-AE2F-6A22C4E5EC86}" dt="2026-03-28T17:35:53.010" v="1" actId="478"/>
          <ac:picMkLst>
            <pc:docMk/>
            <pc:sldMk cId="0" sldId="263"/>
            <ac:picMk id="3" creationId="{00000000-0000-0000-0000-000000000000}"/>
          </ac:picMkLst>
        </pc:picChg>
        <pc:picChg chg="add mod">
          <ac:chgData name="VINEET MISHRA" userId="dcc4833a0e7ed89d" providerId="LiveId" clId="{6E8A2D65-A48A-4491-AE2F-6A22C4E5EC86}" dt="2026-03-28T17:37:08.535" v="7" actId="1076"/>
          <ac:picMkLst>
            <pc:docMk/>
            <pc:sldMk cId="0" sldId="263"/>
            <ac:picMk id="8" creationId="{E7D715C4-B1E3-D915-68D9-DDE2796A0D24}"/>
          </ac:picMkLst>
        </pc:picChg>
      </pc:sldChg>
      <pc:sldChg chg="addSp delSp modSp mod">
        <pc:chgData name="VINEET MISHRA" userId="dcc4833a0e7ed89d" providerId="LiveId" clId="{6E8A2D65-A48A-4491-AE2F-6A22C4E5EC86}" dt="2026-03-28T17:37:25.864" v="12" actId="1076"/>
        <pc:sldMkLst>
          <pc:docMk/>
          <pc:sldMk cId="0" sldId="264"/>
        </pc:sldMkLst>
        <pc:picChg chg="del">
          <ac:chgData name="VINEET MISHRA" userId="dcc4833a0e7ed89d" providerId="LiveId" clId="{6E8A2D65-A48A-4491-AE2F-6A22C4E5EC86}" dt="2026-03-28T17:37:12.618" v="8" actId="478"/>
          <ac:picMkLst>
            <pc:docMk/>
            <pc:sldMk cId="0" sldId="264"/>
            <ac:picMk id="2" creationId="{00000000-0000-0000-0000-000000000000}"/>
          </ac:picMkLst>
        </pc:picChg>
        <pc:picChg chg="del">
          <ac:chgData name="VINEET MISHRA" userId="dcc4833a0e7ed89d" providerId="LiveId" clId="{6E8A2D65-A48A-4491-AE2F-6A22C4E5EC86}" dt="2026-03-28T17:37:14.468" v="9" actId="478"/>
          <ac:picMkLst>
            <pc:docMk/>
            <pc:sldMk cId="0" sldId="264"/>
            <ac:picMk id="3" creationId="{00000000-0000-0000-0000-000000000000}"/>
          </ac:picMkLst>
        </pc:picChg>
        <pc:picChg chg="add mod">
          <ac:chgData name="VINEET MISHRA" userId="dcc4833a0e7ed89d" providerId="LiveId" clId="{6E8A2D65-A48A-4491-AE2F-6A22C4E5EC86}" dt="2026-03-28T17:37:25.864" v="12" actId="1076"/>
          <ac:picMkLst>
            <pc:docMk/>
            <pc:sldMk cId="0" sldId="264"/>
            <ac:picMk id="5" creationId="{5137C1C2-DE1D-8C39-F68B-DC4CB4D1E6BB}"/>
          </ac:picMkLst>
        </pc:picChg>
      </pc:sldChg>
      <pc:sldChg chg="addSp delSp modSp mod">
        <pc:chgData name="VINEET MISHRA" userId="dcc4833a0e7ed89d" providerId="LiveId" clId="{6E8A2D65-A48A-4491-AE2F-6A22C4E5EC86}" dt="2026-03-28T17:37:42.174" v="16" actId="1076"/>
        <pc:sldMkLst>
          <pc:docMk/>
          <pc:sldMk cId="0" sldId="265"/>
        </pc:sldMkLst>
        <pc:picChg chg="del">
          <ac:chgData name="VINEET MISHRA" userId="dcc4833a0e7ed89d" providerId="LiveId" clId="{6E8A2D65-A48A-4491-AE2F-6A22C4E5EC86}" dt="2026-03-28T17:37:28.999" v="13" actId="478"/>
          <ac:picMkLst>
            <pc:docMk/>
            <pc:sldMk cId="0" sldId="265"/>
            <ac:picMk id="2" creationId="{00000000-0000-0000-0000-000000000000}"/>
          </ac:picMkLst>
        </pc:picChg>
        <pc:picChg chg="add mod">
          <ac:chgData name="VINEET MISHRA" userId="dcc4833a0e7ed89d" providerId="LiveId" clId="{6E8A2D65-A48A-4491-AE2F-6A22C4E5EC86}" dt="2026-03-28T17:37:42.174" v="16" actId="1076"/>
          <ac:picMkLst>
            <pc:docMk/>
            <pc:sldMk cId="0" sldId="265"/>
            <ac:picMk id="4" creationId="{3A10A207-3D15-0E53-6ECF-555C842F89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sng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 u="sng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 u="sng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 u="sng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080" y="225933"/>
            <a:ext cx="298513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 u="sng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9Npp3blndgQLnTY0BpkRXw-ihxp9q4Xm/view?usp=sharing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technotes/guides/language/index.html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9005" y="293826"/>
            <a:ext cx="3914395" cy="588494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cs typeface="Trebuchet MS"/>
              </a:rPr>
              <a:t>Project Name: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LIBRARY MANAGEMENT SYSTEM.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Course Name: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Programming in Java.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Subject Code: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CSE2006.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Submitted By: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Prince Raj(24BAI10700)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Submitted To: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VIT BHOPAL University.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 dirty="0">
                <a:latin typeface="Aptos Display" panose="020B0004020202020204" pitchFamily="34" charset="0"/>
                <a:cs typeface="Trebuchet MS"/>
              </a:rPr>
              <a:t>Date of Submission:</a:t>
            </a: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lang="en-US" sz="2400">
                <a:latin typeface="Aptos Display" panose="020B0004020202020204" pitchFamily="34" charset="0"/>
                <a:cs typeface="Trebuchet MS"/>
              </a:rPr>
              <a:t>28-03-2026</a:t>
            </a:r>
            <a:endParaRPr lang="en-US" sz="2400" dirty="0">
              <a:latin typeface="Aptos Display" panose="020B0004020202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257" y="355219"/>
            <a:ext cx="9197340" cy="3859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INTRODUCTION: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report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details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design,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implementation,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testing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Management </a:t>
            </a:r>
            <a:r>
              <a:rPr sz="1800" dirty="0">
                <a:latin typeface="Microsoft Sans Serif"/>
                <a:cs typeface="Microsoft Sans Serif"/>
              </a:rPr>
              <a:t>System.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project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mainly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concept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Object-Oriented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Programming,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specifically </a:t>
            </a:r>
            <a:r>
              <a:rPr sz="1800" dirty="0">
                <a:latin typeface="Microsoft Sans Serif"/>
                <a:cs typeface="Microsoft Sans Serif"/>
              </a:rPr>
              <a:t>Multilevel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Inheritance,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model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</a:t>
            </a:r>
            <a:r>
              <a:rPr sz="1800" spc="-10" dirty="0">
                <a:latin typeface="Microsoft Sans Serif"/>
                <a:cs typeface="Microsoft Sans Serif"/>
              </a:rPr>
              <a:t>real-</a:t>
            </a:r>
            <a:r>
              <a:rPr sz="1800" dirty="0">
                <a:latin typeface="Microsoft Sans Serif"/>
                <a:cs typeface="Microsoft Sans Serif"/>
              </a:rPr>
              <a:t>world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environment.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provides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a </a:t>
            </a:r>
            <a:r>
              <a:rPr sz="1800" dirty="0">
                <a:latin typeface="Microsoft Sans Serif"/>
                <a:cs typeface="Microsoft Sans Serif"/>
              </a:rPr>
              <a:t>functional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simulation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standard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operations,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offering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modular,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efficient,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user-</a:t>
            </a:r>
            <a:r>
              <a:rPr sz="1800" dirty="0">
                <a:latin typeface="Microsoft Sans Serif"/>
                <a:cs typeface="Microsoft Sans Serif"/>
              </a:rPr>
              <a:t>friendly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experience.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spc="-65" dirty="0">
                <a:latin typeface="Arial"/>
                <a:cs typeface="Arial"/>
              </a:rPr>
              <a:t>Problem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Statement:</a:t>
            </a:r>
            <a:endParaRPr sz="1800">
              <a:latin typeface="Arial"/>
              <a:cs typeface="Arial"/>
            </a:endParaRPr>
          </a:p>
          <a:p>
            <a:pPr marL="12700" marR="120014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Traditional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often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require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efficient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software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solutions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 manage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large </a:t>
            </a:r>
            <a:r>
              <a:rPr sz="1800" dirty="0">
                <a:latin typeface="Microsoft Sans Serif"/>
                <a:cs typeface="Microsoft Sans Serif"/>
              </a:rPr>
              <a:t>volumes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users.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problem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addressed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project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design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and </a:t>
            </a:r>
            <a:r>
              <a:rPr sz="1800" dirty="0">
                <a:latin typeface="Microsoft Sans Serif"/>
                <a:cs typeface="Microsoft Sans Serif"/>
              </a:rPr>
              <a:t>implementation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simplified,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console-based</a:t>
            </a:r>
            <a:r>
              <a:rPr sz="1800" spc="-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management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automates </a:t>
            </a:r>
            <a:r>
              <a:rPr sz="1800" dirty="0">
                <a:latin typeface="Microsoft Sans Serif"/>
                <a:cs typeface="Microsoft Sans Serif"/>
              </a:rPr>
              <a:t>essential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operations.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should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manage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records,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handle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0" dirty="0">
                <a:latin typeface="Microsoft Sans Serif"/>
                <a:cs typeface="Microsoft Sans Serif"/>
              </a:rPr>
              <a:t> return </a:t>
            </a:r>
            <a:r>
              <a:rPr sz="1800" dirty="0">
                <a:latin typeface="Microsoft Sans Serif"/>
                <a:cs typeface="Microsoft Sans Serif"/>
              </a:rPr>
              <a:t>operations,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maintain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accuracy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while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ensuring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ease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use.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810" y="265252"/>
            <a:ext cx="9702800" cy="496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latin typeface="Arial"/>
                <a:cs typeface="Arial"/>
              </a:rPr>
              <a:t>Functional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Requirements:</a:t>
            </a:r>
            <a:endParaRPr sz="1800">
              <a:latin typeface="Arial"/>
              <a:cs typeface="Arial"/>
            </a:endParaRPr>
          </a:p>
          <a:p>
            <a:pPr marL="260985" indent="-2482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60985" algn="l"/>
              </a:tabLst>
            </a:pPr>
            <a:r>
              <a:rPr sz="1800" b="1" spc="-95" dirty="0">
                <a:latin typeface="Arial"/>
                <a:cs typeface="Arial"/>
              </a:rPr>
              <a:t>Book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Management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allows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add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new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entering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details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such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ID,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Title,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Author,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Genre,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Availability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Status.</a:t>
            </a:r>
            <a:endParaRPr sz="1800">
              <a:latin typeface="Microsoft Sans Serif"/>
              <a:cs typeface="Microsoft Sans Serif"/>
            </a:endParaRPr>
          </a:p>
          <a:p>
            <a:pPr marL="91440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Input: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via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console.</a:t>
            </a:r>
            <a:endParaRPr sz="1800">
              <a:latin typeface="Microsoft Sans Serif"/>
              <a:cs typeface="Microsoft Sans Serif"/>
            </a:endParaRPr>
          </a:p>
          <a:p>
            <a:pPr marL="91440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Output: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new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object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created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stored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memory.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260985" indent="-248285">
              <a:lnSpc>
                <a:spcPct val="100000"/>
              </a:lnSpc>
              <a:buAutoNum type="arabicPeriod" startAt="2"/>
              <a:tabLst>
                <a:tab pos="260985" algn="l"/>
              </a:tabLst>
            </a:pPr>
            <a:r>
              <a:rPr sz="1800" b="1" spc="-50" dirty="0">
                <a:latin typeface="Arial"/>
                <a:cs typeface="Arial"/>
              </a:rPr>
              <a:t>Issue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and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65" dirty="0">
                <a:latin typeface="Arial"/>
                <a:cs typeface="Arial"/>
              </a:rPr>
              <a:t>Return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allows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return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books.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book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only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issued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 it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available.</a:t>
            </a:r>
            <a:endParaRPr sz="1800">
              <a:latin typeface="Microsoft Sans Serif"/>
              <a:cs typeface="Microsoft Sans Serif"/>
            </a:endParaRPr>
          </a:p>
          <a:p>
            <a:pPr marL="91440" lvl="1" indent="-88900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Input: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ID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action.</a:t>
            </a:r>
            <a:endParaRPr sz="1800">
              <a:latin typeface="Microsoft Sans Serif"/>
              <a:cs typeface="Microsoft Sans Serif"/>
            </a:endParaRPr>
          </a:p>
          <a:p>
            <a:pPr marL="91440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Output: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Updated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availability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status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error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message.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260985" indent="-248285">
              <a:lnSpc>
                <a:spcPct val="100000"/>
              </a:lnSpc>
              <a:buAutoNum type="arabicPeriod" startAt="3"/>
              <a:tabLst>
                <a:tab pos="260985" algn="l"/>
              </a:tabLst>
            </a:pPr>
            <a:r>
              <a:rPr sz="1800" b="1" spc="-85" dirty="0">
                <a:latin typeface="Arial"/>
                <a:cs typeface="Arial"/>
              </a:rPr>
              <a:t>Information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Display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Module: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displays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details,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including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availability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status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issued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records.</a:t>
            </a:r>
            <a:endParaRPr sz="1800">
              <a:latin typeface="Microsoft Sans Serif"/>
              <a:cs typeface="Microsoft Sans Serif"/>
            </a:endParaRPr>
          </a:p>
          <a:p>
            <a:pPr marL="91440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Input: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menu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selection.</a:t>
            </a:r>
            <a:endParaRPr sz="1800">
              <a:latin typeface="Microsoft Sans Serif"/>
              <a:cs typeface="Microsoft Sans Serif"/>
            </a:endParaRPr>
          </a:p>
          <a:p>
            <a:pPr marL="91440" lvl="1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Output: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Formatted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information.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221" y="156464"/>
            <a:ext cx="10634345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" dirty="0">
                <a:latin typeface="Arial"/>
                <a:cs typeface="Arial"/>
              </a:rPr>
              <a:t>Non-</a:t>
            </a:r>
            <a:r>
              <a:rPr sz="1800" b="1" spc="-90" dirty="0">
                <a:latin typeface="Arial"/>
                <a:cs typeface="Arial"/>
              </a:rPr>
              <a:t>Functional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Requirements:</a:t>
            </a:r>
            <a:endParaRPr sz="1800">
              <a:latin typeface="Arial"/>
              <a:cs typeface="Arial"/>
            </a:endParaRPr>
          </a:p>
          <a:p>
            <a:pPr marL="203835" indent="-193675">
              <a:lnSpc>
                <a:spcPct val="100000"/>
              </a:lnSpc>
              <a:buSzPct val="94444"/>
              <a:buAutoNum type="arabicPeriod"/>
              <a:tabLst>
                <a:tab pos="203835" algn="l"/>
              </a:tabLst>
            </a:pPr>
            <a:r>
              <a:rPr sz="1800" b="1" spc="-10" dirty="0">
                <a:latin typeface="Arial"/>
                <a:cs typeface="Arial"/>
              </a:rPr>
              <a:t>Usability: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provides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intuitive,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numbered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console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menu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easy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navigation.</a:t>
            </a:r>
            <a:endParaRPr sz="1800">
              <a:latin typeface="Microsoft Sans Serif"/>
              <a:cs typeface="Microsoft Sans Serif"/>
            </a:endParaRPr>
          </a:p>
          <a:p>
            <a:pPr marL="203835" indent="-193675">
              <a:lnSpc>
                <a:spcPct val="100000"/>
              </a:lnSpc>
              <a:buSzPct val="94444"/>
              <a:buAutoNum type="arabicPeriod" startAt="2"/>
              <a:tabLst>
                <a:tab pos="203835" algn="l"/>
              </a:tabLst>
            </a:pPr>
            <a:r>
              <a:rPr sz="1800" b="1" spc="-10" dirty="0">
                <a:latin typeface="Arial"/>
                <a:cs typeface="Arial"/>
              </a:rPr>
              <a:t>Reliability: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handles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invalid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inputs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(e.g.,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wrong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ID,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invalid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options)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without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crashing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displays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Microsoft Sans Serif"/>
                <a:cs typeface="Microsoft Sans Serif"/>
              </a:rPr>
              <a:t>appropriate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error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messages.</a:t>
            </a:r>
            <a:endParaRPr sz="1800">
              <a:latin typeface="Microsoft Sans Serif"/>
              <a:cs typeface="Microsoft Sans Serif"/>
            </a:endParaRPr>
          </a:p>
          <a:p>
            <a:pPr marL="203835" indent="-193675">
              <a:lnSpc>
                <a:spcPct val="100000"/>
              </a:lnSpc>
              <a:buSzPct val="94444"/>
              <a:buAutoNum type="arabicPeriod" startAt="3"/>
              <a:tabLst>
                <a:tab pos="203835" algn="l"/>
              </a:tabLst>
            </a:pPr>
            <a:r>
              <a:rPr sz="1800" b="1" spc="-10" dirty="0">
                <a:latin typeface="Arial"/>
                <a:cs typeface="Arial"/>
              </a:rPr>
              <a:t>Performance: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Operations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such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issuing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returning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execute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efficiently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provide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real-time </a:t>
            </a:r>
            <a:r>
              <a:rPr sz="1800" spc="-10" dirty="0">
                <a:latin typeface="Microsoft Sans Serif"/>
                <a:cs typeface="Microsoft Sans Serif"/>
              </a:rPr>
              <a:t>feedback.</a:t>
            </a:r>
            <a:endParaRPr sz="1800">
              <a:latin typeface="Microsoft Sans Serif"/>
              <a:cs typeface="Microsoft Sans Serif"/>
            </a:endParaRPr>
          </a:p>
          <a:p>
            <a:pPr marL="203835" indent="-193675">
              <a:lnSpc>
                <a:spcPct val="100000"/>
              </a:lnSpc>
              <a:buSzPct val="94444"/>
              <a:buAutoNum type="arabicPeriod" startAt="4"/>
              <a:tabLst>
                <a:tab pos="203835" algn="l"/>
              </a:tabLst>
            </a:pPr>
            <a:r>
              <a:rPr sz="1800" b="1" spc="-10" dirty="0">
                <a:latin typeface="Arial"/>
                <a:cs typeface="Arial"/>
              </a:rPr>
              <a:t>Maintainability: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code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modular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due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multilevel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inheritance,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proper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comments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meaningful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names.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715" y="3716273"/>
            <a:ext cx="85737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System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Architecture: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follows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Layered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Architecture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implemented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Multilevel</a:t>
            </a:r>
            <a:r>
              <a:rPr sz="1800" spc="-10" dirty="0">
                <a:latin typeface="Microsoft Sans Serif"/>
                <a:cs typeface="Microsoft Sans Serif"/>
              </a:rPr>
              <a:t> Inheritance.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70" dirty="0">
                <a:latin typeface="Arial"/>
                <a:cs typeface="Arial"/>
              </a:rPr>
              <a:t>Presentation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Layer: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Handles user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interaction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through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menu-driven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interface.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90" dirty="0">
                <a:latin typeface="Arial"/>
                <a:cs typeface="Arial"/>
              </a:rPr>
              <a:t>Business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spc="-95" dirty="0">
                <a:latin typeface="Arial"/>
                <a:cs typeface="Arial"/>
              </a:rPr>
              <a:t>Logic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Layer: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Contains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logic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issuing,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returning,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managing</a:t>
            </a:r>
            <a:r>
              <a:rPr sz="1800" spc="-10" dirty="0">
                <a:latin typeface="Microsoft Sans Serif"/>
                <a:cs typeface="Microsoft Sans Serif"/>
              </a:rPr>
              <a:t> books.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20" dirty="0">
                <a:latin typeface="Arial"/>
                <a:cs typeface="Arial"/>
              </a:rPr>
              <a:t>Data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Layer: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Stores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details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their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current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status.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87" y="355219"/>
            <a:ext cx="9869805" cy="570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Arial"/>
                <a:cs typeface="Arial"/>
              </a:rPr>
              <a:t>Design </a:t>
            </a:r>
            <a:r>
              <a:rPr sz="1800" b="1" spc="-10" dirty="0">
                <a:latin typeface="Arial"/>
                <a:cs typeface="Arial"/>
              </a:rPr>
              <a:t>Diagrams:</a:t>
            </a:r>
            <a:endParaRPr sz="180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</a:pPr>
            <a:r>
              <a:rPr sz="1800" spc="-10" dirty="0">
                <a:latin typeface="Microsoft Sans Serif"/>
                <a:cs typeface="Microsoft Sans Serif"/>
                <a:hlinkClick r:id="rId2"/>
              </a:rPr>
              <a:t>https://drive.google.com/file/d/19Npp3blndgQLnTY0BpkRXw-ihxp9q4Xm/view?usp=sharing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spc="-65" dirty="0">
                <a:latin typeface="Arial"/>
                <a:cs typeface="Arial"/>
              </a:rPr>
              <a:t>Design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Decisions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110" dirty="0">
                <a:latin typeface="Arial"/>
                <a:cs typeface="Arial"/>
              </a:rPr>
              <a:t>&amp;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Rationale:</a:t>
            </a:r>
            <a:endParaRPr sz="1800">
              <a:latin typeface="Arial"/>
              <a:cs typeface="Arial"/>
            </a:endParaRPr>
          </a:p>
          <a:p>
            <a:pPr marL="12700" marR="115570" indent="139700">
              <a:lnSpc>
                <a:spcPct val="100000"/>
              </a:lnSpc>
              <a:buFont typeface="Microsoft Sans Serif"/>
              <a:buChar char="•"/>
              <a:tabLst>
                <a:tab pos="152400" algn="l"/>
              </a:tabLst>
            </a:pPr>
            <a:r>
              <a:rPr sz="1800" b="1" spc="-65" dirty="0">
                <a:latin typeface="Arial"/>
                <a:cs typeface="Arial"/>
              </a:rPr>
              <a:t>Multilevel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Inheritance: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Chosen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model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natural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"is-a"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relationship.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is-</a:t>
            </a:r>
            <a:r>
              <a:rPr sz="1800" spc="-50" dirty="0">
                <a:latin typeface="Microsoft Sans Serif"/>
                <a:cs typeface="Microsoft Sans Serif"/>
              </a:rPr>
              <a:t>a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Operations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which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turn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is-a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Book.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promotes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code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reusability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logical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structuring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system.</a:t>
            </a:r>
            <a:endParaRPr sz="1800">
              <a:latin typeface="Microsoft Sans Serif"/>
              <a:cs typeface="Microsoft Sans Serif"/>
            </a:endParaRPr>
          </a:p>
          <a:p>
            <a:pPr marL="151765" indent="-139065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151765" algn="l"/>
              </a:tabLst>
            </a:pPr>
            <a:r>
              <a:rPr sz="1800" b="1" spc="-80" dirty="0">
                <a:latin typeface="Arial"/>
                <a:cs typeface="Arial"/>
              </a:rPr>
              <a:t>Encapsulation:</a:t>
            </a:r>
            <a:r>
              <a:rPr sz="1800" b="1" spc="-12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instance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declared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protected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allow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access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subclasses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while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restricting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access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unrelated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external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classes.</a:t>
            </a:r>
            <a:endParaRPr sz="1800">
              <a:latin typeface="Microsoft Sans Serif"/>
              <a:cs typeface="Microsoft Sans Serif"/>
            </a:endParaRPr>
          </a:p>
          <a:p>
            <a:pPr marL="152400" indent="-139700">
              <a:lnSpc>
                <a:spcPct val="100000"/>
              </a:lnSpc>
              <a:buFont typeface="Microsoft Sans Serif"/>
              <a:buChar char="•"/>
              <a:tabLst>
                <a:tab pos="152400" algn="l"/>
              </a:tabLst>
            </a:pPr>
            <a:r>
              <a:rPr sz="1800" b="1" spc="-50" dirty="0">
                <a:latin typeface="Arial"/>
                <a:cs typeface="Arial"/>
              </a:rPr>
              <a:t>Scanner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65" dirty="0">
                <a:latin typeface="Arial"/>
                <a:cs typeface="Arial"/>
              </a:rPr>
              <a:t>Object: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Placed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base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class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derived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classes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inherit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use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same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Scanner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object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 input,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avoiding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resource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duplication.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02235">
              <a:lnSpc>
                <a:spcPct val="100000"/>
              </a:lnSpc>
            </a:pPr>
            <a:r>
              <a:rPr sz="1800" b="1" spc="-75" dirty="0">
                <a:latin typeface="Arial"/>
                <a:cs typeface="Arial"/>
              </a:rPr>
              <a:t>Implementation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Details:</a:t>
            </a:r>
            <a:endParaRPr sz="180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implemented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single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.java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file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simplicity,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but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classes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logically</a:t>
            </a:r>
            <a:endParaRPr sz="1800">
              <a:latin typeface="Microsoft Sans Serif"/>
              <a:cs typeface="Microsoft Sans Serif"/>
            </a:endParaRPr>
          </a:p>
          <a:p>
            <a:pPr marL="102235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separated.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Key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implementation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aspects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include:</a:t>
            </a:r>
            <a:endParaRPr sz="1800">
              <a:latin typeface="Microsoft Sans Serif"/>
              <a:cs typeface="Microsoft Sans Serif"/>
            </a:endParaRPr>
          </a:p>
          <a:p>
            <a:pPr marL="102235" marR="1275080" lvl="1" indent="139700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constructor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initializes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details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manages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setup, </a:t>
            </a:r>
            <a:r>
              <a:rPr sz="1800" dirty="0">
                <a:latin typeface="Microsoft Sans Serif"/>
                <a:cs typeface="Microsoft Sans Serif"/>
              </a:rPr>
              <a:t>demonstrating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structured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initialization.</a:t>
            </a:r>
            <a:endParaRPr sz="1800">
              <a:latin typeface="Microsoft Sans Serif"/>
              <a:cs typeface="Microsoft Sans Serif"/>
            </a:endParaRPr>
          </a:p>
          <a:p>
            <a:pPr marL="241300" lvl="1" indent="-139065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800" dirty="0">
                <a:latin typeface="Microsoft Sans Serif"/>
                <a:cs typeface="Microsoft Sans Serif"/>
              </a:rPr>
              <a:t>Input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validation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issue()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return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Book()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methods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ensures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integrity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prevents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invalid</a:t>
            </a:r>
            <a:endParaRPr sz="1800">
              <a:latin typeface="Microsoft Sans Serif"/>
              <a:cs typeface="Microsoft Sans Serif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Microsoft Sans Serif"/>
                <a:cs typeface="Microsoft Sans Serif"/>
              </a:rPr>
              <a:t>operations.</a:t>
            </a:r>
            <a:endParaRPr sz="1800">
              <a:latin typeface="Microsoft Sans Serif"/>
              <a:cs typeface="Microsoft Sans Serif"/>
            </a:endParaRPr>
          </a:p>
          <a:p>
            <a:pPr marL="241300" lvl="1" indent="-139065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Menu()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method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uses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do-while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loop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 provide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continuous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experience.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221" y="116585"/>
            <a:ext cx="8061959" cy="524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latin typeface="Arial"/>
                <a:cs typeface="Arial"/>
              </a:rPr>
              <a:t>Testing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Approach: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A manual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black-box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testing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approach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was</a:t>
            </a:r>
            <a:r>
              <a:rPr sz="1800" spc="-10" dirty="0">
                <a:latin typeface="Microsoft Sans Serif"/>
                <a:cs typeface="Microsoft Sans Serif"/>
              </a:rPr>
              <a:t> used.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45" dirty="0">
                <a:latin typeface="Arial"/>
                <a:cs typeface="Arial"/>
              </a:rPr>
              <a:t>Test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Case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75" dirty="0">
                <a:latin typeface="Arial"/>
                <a:cs typeface="Arial"/>
              </a:rPr>
              <a:t>(Add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75" dirty="0">
                <a:latin typeface="Arial"/>
                <a:cs typeface="Arial"/>
              </a:rPr>
              <a:t>Book): </a:t>
            </a:r>
            <a:r>
              <a:rPr sz="1800" dirty="0">
                <a:latin typeface="Microsoft Sans Serif"/>
                <a:cs typeface="Microsoft Sans Serif"/>
              </a:rPr>
              <a:t>Verified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correct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storage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display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10" dirty="0">
                <a:latin typeface="Microsoft Sans Serif"/>
                <a:cs typeface="Microsoft Sans Serif"/>
              </a:rPr>
              <a:t> details.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45" dirty="0">
                <a:latin typeface="Arial"/>
                <a:cs typeface="Arial"/>
              </a:rPr>
              <a:t>Test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Case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2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45" dirty="0">
                <a:latin typeface="Arial"/>
                <a:cs typeface="Arial"/>
              </a:rPr>
              <a:t>(Issue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Book):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Issued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successfully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when</a:t>
            </a:r>
            <a:r>
              <a:rPr sz="1800" spc="-10" dirty="0">
                <a:latin typeface="Microsoft Sans Serif"/>
                <a:cs typeface="Microsoft Sans Serif"/>
              </a:rPr>
              <a:t> available.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45" dirty="0">
                <a:latin typeface="Arial"/>
                <a:cs typeface="Arial"/>
              </a:rPr>
              <a:t>Test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Case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3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45" dirty="0">
                <a:latin typeface="Arial"/>
                <a:cs typeface="Arial"/>
              </a:rPr>
              <a:t>(Issue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55" dirty="0">
                <a:latin typeface="Arial"/>
                <a:cs typeface="Arial"/>
              </a:rPr>
              <a:t>Unavailable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75" dirty="0">
                <a:latin typeface="Arial"/>
                <a:cs typeface="Arial"/>
              </a:rPr>
              <a:t>Book):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displayed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"Book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available!".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45" dirty="0">
                <a:latin typeface="Arial"/>
                <a:cs typeface="Arial"/>
              </a:rPr>
              <a:t>Test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Case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4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(Return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75" dirty="0">
                <a:latin typeface="Arial"/>
                <a:cs typeface="Arial"/>
              </a:rPr>
              <a:t>Book):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status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updated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correctly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after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return.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spc="-60" dirty="0">
                <a:latin typeface="Arial"/>
                <a:cs typeface="Arial"/>
              </a:rPr>
              <a:t>Challenges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Faced: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spcBef>
                <a:spcPts val="5"/>
              </a:spcBef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55" dirty="0">
                <a:latin typeface="Arial"/>
                <a:cs typeface="Arial"/>
              </a:rPr>
              <a:t>Challenge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1: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Managing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input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errors.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Microsoft Sans Serif"/>
                <a:cs typeface="Microsoft Sans Serif"/>
              </a:rPr>
              <a:t>Solution: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Implemented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input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validation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error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handling.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b="1" spc="-55" dirty="0">
                <a:latin typeface="Arial"/>
                <a:cs typeface="Arial"/>
              </a:rPr>
              <a:t>Challenge</a:t>
            </a:r>
            <a:r>
              <a:rPr sz="1800" b="1" spc="-11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2: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Designing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class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hierarchy.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Microsoft Sans Serif"/>
                <a:cs typeface="Microsoft Sans Serif"/>
              </a:rPr>
              <a:t>Solution: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Separated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responsibilities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into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different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classes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logically.</a:t>
            </a: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80" dirty="0">
                <a:latin typeface="Arial"/>
                <a:cs typeface="Arial"/>
              </a:rPr>
              <a:t>Learnings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110" dirty="0">
                <a:latin typeface="Arial"/>
                <a:cs typeface="Arial"/>
              </a:rPr>
              <a:t>&amp;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60" dirty="0">
                <a:latin typeface="Arial"/>
                <a:cs typeface="Arial"/>
              </a:rPr>
              <a:t>Key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Takeaways: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Understood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practical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implementation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multilevel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inheritance.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Improved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knowledge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Java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OOP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concepts.</a:t>
            </a:r>
            <a:endParaRPr sz="1800">
              <a:latin typeface="Microsoft Sans Serif"/>
              <a:cs typeface="Microsoft Sans Serif"/>
            </a:endParaRPr>
          </a:p>
          <a:p>
            <a:pPr marL="91440" indent="-88900">
              <a:lnSpc>
                <a:spcPct val="100000"/>
              </a:lnSpc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Microsoft Sans Serif"/>
                <a:cs typeface="Microsoft Sans Serif"/>
              </a:rPr>
              <a:t>Learned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handling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input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validation.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080" y="365252"/>
            <a:ext cx="10986770" cy="3593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latin typeface="Arial"/>
                <a:cs typeface="Arial"/>
              </a:rPr>
              <a:t>Future </a:t>
            </a:r>
            <a:r>
              <a:rPr sz="1800" b="1" spc="-10" dirty="0">
                <a:latin typeface="Arial"/>
                <a:cs typeface="Arial"/>
              </a:rPr>
              <a:t>Enhancements:</a:t>
            </a:r>
            <a:endParaRPr sz="18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sz="1800" dirty="0">
                <a:latin typeface="Microsoft Sans Serif"/>
                <a:cs typeface="Microsoft Sans Serif"/>
              </a:rPr>
              <a:t>Implement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collection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(like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 ArrayList)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manage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multiple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users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efficiently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instead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handling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limited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records.</a:t>
            </a:r>
            <a:endParaRPr sz="1800">
              <a:latin typeface="Microsoft Sans Serif"/>
              <a:cs typeface="Microsoft Sans Serif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sz="1800" dirty="0">
                <a:latin typeface="Microsoft Sans Serif"/>
                <a:cs typeface="Microsoft Sans Serif"/>
              </a:rPr>
              <a:t>Add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password-based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authentication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secure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access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library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system.</a:t>
            </a:r>
            <a:endParaRPr sz="1800">
              <a:latin typeface="Microsoft Sans Serif"/>
              <a:cs typeface="Microsoft Sans Serif"/>
            </a:endParaRPr>
          </a:p>
          <a:p>
            <a:pPr marL="151765" indent="-139065">
              <a:lnSpc>
                <a:spcPct val="100000"/>
              </a:lnSpc>
              <a:buChar char="•"/>
              <a:tabLst>
                <a:tab pos="151765" algn="l"/>
              </a:tabLst>
            </a:pPr>
            <a:r>
              <a:rPr sz="1800" dirty="0">
                <a:latin typeface="Microsoft Sans Serif"/>
                <a:cs typeface="Microsoft Sans Serif"/>
              </a:rPr>
              <a:t>Replace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console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interface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Graphical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Interface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(GUI)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using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Swing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JavaFX.</a:t>
            </a:r>
            <a:endParaRPr sz="1800">
              <a:latin typeface="Microsoft Sans Serif"/>
              <a:cs typeface="Microsoft Sans Serif"/>
            </a:endParaRPr>
          </a:p>
          <a:p>
            <a:pPr marL="152400" indent="-139700">
              <a:lnSpc>
                <a:spcPct val="100000"/>
              </a:lnSpc>
              <a:spcBef>
                <a:spcPts val="5"/>
              </a:spcBef>
              <a:buChar char="•"/>
              <a:tabLst>
                <a:tab pos="152400" algn="l"/>
              </a:tabLst>
            </a:pPr>
            <a:r>
              <a:rPr sz="1800" dirty="0">
                <a:latin typeface="Microsoft Sans Serif"/>
                <a:cs typeface="Microsoft Sans Serif"/>
              </a:rPr>
              <a:t>Integrate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database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(e.g.,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MySQL) for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persistent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storage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book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data.</a:t>
            </a:r>
            <a:endParaRPr sz="1800">
              <a:latin typeface="Microsoft Sans Serif"/>
              <a:cs typeface="Microsoft Sans Serif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sz="1800" dirty="0">
                <a:latin typeface="Microsoft Sans Serif"/>
                <a:cs typeface="Microsoft Sans Serif"/>
              </a:rPr>
              <a:t>Implement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book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reservation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system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calculation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overdue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returns.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Microsoft Sans Serif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Microsoft Sans Serif"/>
              <a:buChar char="•"/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References:</a:t>
            </a:r>
            <a:endParaRPr sz="18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5"/>
              </a:spcBef>
              <a:buChar char="•"/>
              <a:tabLst>
                <a:tab pos="152400" algn="l"/>
              </a:tabLst>
            </a:pPr>
            <a:r>
              <a:rPr sz="1800" dirty="0">
                <a:latin typeface="Microsoft Sans Serif"/>
                <a:cs typeface="Microsoft Sans Serif"/>
              </a:rPr>
              <a:t>Oracle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Java</a:t>
            </a:r>
            <a:endParaRPr sz="1800">
              <a:latin typeface="Microsoft Sans Serif"/>
              <a:cs typeface="Microsoft Sans Serif"/>
            </a:endParaRPr>
          </a:p>
          <a:p>
            <a:pPr marL="79629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Documentation: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Microsoft Sans Serif"/>
                <a:cs typeface="Microsoft Sans Serif"/>
                <a:hlinkClick r:id="rId2"/>
              </a:rPr>
              <a:t>https://docs.oracle.com/javase/8/docs/technotes/guides/language/index.html</a:t>
            </a:r>
            <a:endParaRPr sz="1800">
              <a:latin typeface="Microsoft Sans Serif"/>
              <a:cs typeface="Microsoft Sans Serif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sz="1800" dirty="0">
                <a:latin typeface="Microsoft Sans Serif"/>
                <a:cs typeface="Microsoft Sans Serif"/>
              </a:rPr>
              <a:t>GeeksforGeeks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Multilevel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Inheritance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Java.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Results</a:t>
            </a:r>
            <a:r>
              <a:rPr spc="-105" dirty="0"/>
              <a:t> </a:t>
            </a:r>
            <a:r>
              <a:rPr dirty="0"/>
              <a:t>Screenshots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AED70D6-98CB-D5DA-CD0B-4F66F74D8D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8800" y="-838200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FECC8E9-67FF-CED3-9819-D07F9B3439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D715C4-B1E3-D915-68D9-DDE2796A0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91" y="800981"/>
            <a:ext cx="8546917" cy="55608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37C1C2-DE1D-8C39-F68B-DC4CB4D1E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7593"/>
            <a:ext cx="9994717" cy="65028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10A207-3D15-0E53-6ECF-555C842F8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3227"/>
            <a:ext cx="10223317" cy="6651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877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Display</vt:lpstr>
      <vt:lpstr>Arial</vt:lpstr>
      <vt:lpstr>Arial MT</vt:lpstr>
      <vt:lpstr>Calibri</vt:lpstr>
      <vt:lpstr>Microsoft Sans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Screenshots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VINEET MISHRA</cp:lastModifiedBy>
  <cp:revision>1</cp:revision>
  <dcterms:created xsi:type="dcterms:W3CDTF">2026-03-28T17:35:11Z</dcterms:created>
  <dcterms:modified xsi:type="dcterms:W3CDTF">2026-03-28T17:40:43Z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2026-03-28T00:00:00Z</vt:filetime>
  </property>
  <property fmtid="{D5CDD505-2E9C-101B-9397-08002B2CF9AE}" pid="5" name="Producer">
    <vt:lpwstr>www.ilovepdf.com</vt:lpwstr>
  </property>
</Properties>
</file>